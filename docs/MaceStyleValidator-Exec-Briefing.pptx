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210" d="100"/>
          <a:sy n="210" d="100"/>
        </p:scale>
        <p:origin x="11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6322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515600" cy="18671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 i="0" dirty="0">
                <a:solidFill>
                  <a:srgbClr val="FFFFFF"/>
                </a:solidFill>
                <a:latin typeface="Arial"/>
              </a:rPr>
              <a:t>Mace Style Validator</a:t>
            </a:r>
          </a:p>
          <a:p>
            <a:r>
              <a:rPr sz="2200" b="0" i="0" dirty="0">
                <a:solidFill>
                  <a:srgbClr val="ECECEC"/>
                </a:solidFill>
                <a:latin typeface="Arial"/>
              </a:rPr>
              <a:t>Automated document compliance for the Mace Way Control Centre</a:t>
            </a:r>
          </a:p>
          <a:p>
            <a:pPr>
              <a:spcBef>
                <a:spcPts val="2200"/>
              </a:spcBef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Executive briefing for Tarek</a:t>
            </a:r>
            <a:r>
              <a:rPr lang="en-GB"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1600" b="1" i="0" dirty="0" err="1">
                <a:solidFill>
                  <a:srgbClr val="FFFFFF"/>
                </a:solidFill>
                <a:latin typeface="Arial"/>
              </a:rPr>
              <a:t>Elhadidi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, Chief Digital &amp; Information Officer</a:t>
            </a:r>
          </a:p>
          <a:p>
            <a:r>
              <a:rPr sz="1300" b="0" i="0" dirty="0">
                <a:solidFill>
                  <a:srgbClr val="DDDDDD"/>
                </a:solidFill>
                <a:latin typeface="Arial"/>
              </a:rPr>
              <a:t>Prepared by Stephen Cummins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WHY THIS MATTERS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The opportunity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Mace Way Control Centre is the single source of truth for how Mace delivers — hundreds of governance documents that must follow the Control Centre Writing Style Guide.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Checking style by hand is slow, inconsistent, and doesn't scale across Word, Excel, PowerPoint and Visio.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Inconsistent documents quietly erode the authority and professionalism of the Control Centre.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There was no automated, auditable way to enforce the standard at the point documents are created.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THE SOLUTION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What we built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333333"/>
                </a:solidFill>
                <a:latin typeface="Arial"/>
              </a:rPr>
              <a:t>An automated style validator, built into SharePoint, that checks and auto-fixes documents against the Mace Way Writing Style Guide — in one click.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611880" cy="137160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One click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Run it straight from the document library — no new tools to 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331720"/>
            <a:ext cx="3611880" cy="137160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Auto-fix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Common issues are corrected automatically in a clean 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331720"/>
            <a:ext cx="3611880" cy="137160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Branded report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Every run produces a Mace-branded report, linked on the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611880" cy="137160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Full record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Pass / review / fail, with issues found and fixed, logged for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931920"/>
            <a:ext cx="3611880" cy="137160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Multi-format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Word, Excel, PowerPoint and Visio — one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931920"/>
            <a:ext cx="3611880" cy="137160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Business-owned rules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199 rules today, editable in SharePoint with no code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USER GUIDE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How a user runs it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In the document library, set a document's status to "Validate Now".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validator checks it against the live style rules held in SharePoint.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Common issues are auto-fixed in a corrected copy of the document.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A Mace-branded report is generated and linked directly on the document.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outcome — pass, review-required or fail, with counts — is recorded in the Validation Results list.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Reports and results carry links back to the source document and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HOW IT WORKS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From upload to compliant — automatically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600200"/>
            <a:ext cx="3383280" cy="1280160"/>
          </a:xfrm>
          <a:prstGeom prst="round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1. "Validate Now"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User flags the document
in the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00200"/>
            <a:ext cx="3383280" cy="1280160"/>
          </a:xfrm>
          <a:prstGeom prst="round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2. Flow triggers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Sends the document to
the validation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00200"/>
            <a:ext cx="3383280" cy="1280160"/>
          </a:xfrm>
          <a:prstGeom prst="round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3. Checked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Validated against the
live style rules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2121408"/>
            <a:ext cx="457200" cy="329184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7772400" y="2121408"/>
            <a:ext cx="457200" cy="329184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own Arrow 8"/>
          <p:cNvSpPr/>
          <p:nvPr/>
        </p:nvSpPr>
        <p:spPr>
          <a:xfrm>
            <a:off x="9738360" y="2971800"/>
            <a:ext cx="365760" cy="54864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0" y="3611880"/>
            <a:ext cx="3383280" cy="128016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4. Auto-fixed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Issues corrected in a
clean 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11880"/>
            <a:ext cx="3383280" cy="128016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5. Report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Branded report generated
and linked on the doc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3383280" cy="128016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6. Recorded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Pass / review / fail
logged for audit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7772400" y="4133087"/>
            <a:ext cx="457200" cy="329184"/>
          </a:xfrm>
          <a:prstGeom prst="lef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eft Arrow 13"/>
          <p:cNvSpPr/>
          <p:nvPr/>
        </p:nvSpPr>
        <p:spPr>
          <a:xfrm>
            <a:off x="3931920" y="4133087"/>
            <a:ext cx="457200" cy="329184"/>
          </a:xfrm>
          <a:prstGeom prst="lef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64240" cy="7315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Steps 2–6 are fully automated. The user only sets “Validate Now” — everything else happens in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COVERAGE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What it checks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700"/>
              </a:spcAft>
            </a:pPr>
            <a:r>
              <a:rPr sz="1900" b="1" i="0">
                <a:solidFill>
                  <a:srgbClr val="797574"/>
                </a:solidFill>
                <a:latin typeface="Arial"/>
              </a:rPr>
              <a:t>Style rules enforced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•  British English spelling (colour, analyse, centre …)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•  Contraction expansion, symbol replacement (&amp; → and, % → percent)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•  Number formatting and font standardisation (Arial)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•  Document structure and headings</a:t>
            </a:r>
          </a:p>
          <a:p>
            <a:pPr>
              <a:spcBef>
                <a:spcPts val="1000"/>
              </a:spcBef>
              <a:spcAft>
                <a:spcPts val="700"/>
              </a:spcAft>
            </a:pPr>
            <a:r>
              <a:rPr sz="1900" b="1" i="0">
                <a:solidFill>
                  <a:srgbClr val="797574"/>
                </a:solidFill>
                <a:latin typeface="Arial"/>
              </a:rPr>
              <a:t>Formats supported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•  Word (.docx), Excel (.xlsx), PowerPoint (.pptx), Visio (.vsdx)</a:t>
            </a:r>
          </a:p>
          <a:p>
            <a:pPr>
              <a:spcBef>
                <a:spcPts val="1000"/>
              </a:spcBef>
              <a:spcAft>
                <a:spcPts val="700"/>
              </a:spcAft>
            </a:pPr>
            <a:r>
              <a:rPr sz="1900" b="1" i="0">
                <a:solidFill>
                  <a:srgbClr val="797574"/>
                </a:solidFill>
                <a:latin typeface="Arial"/>
              </a:rPr>
              <a:t>Rules are data-driven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•  Held in a SharePoint list and maintained by the business — no deployment to change a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ARCHITECTURE &amp; TRUST BOUNDARY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How it fits together — and where your data lives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11480" y="1325880"/>
            <a:ext cx="6720840" cy="4069080"/>
          </a:xfrm>
          <a:prstGeom prst="roundRect">
            <a:avLst/>
          </a:prstGeom>
          <a:noFill/>
          <a:ln w="285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399032"/>
            <a:ext cx="6446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E7D52"/>
                </a:solidFill>
                <a:latin typeface="Arial"/>
              </a:rPr>
              <a:t>MACE 365 TENANT  ·  your data, your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172200" cy="91440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Mace SharePoint  ·  Mace Way Control Centre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Documents · Style rules · Validation results ·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6172200" cy="822960"/>
          </a:xfrm>
          <a:prstGeom prst="round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Power Automate flow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Runs as a Mace user · performs all SharePoint writes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6172200" cy="8229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Microsoft Entra app registration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Sites.Selected — one site only · admin-consented · revocable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25880"/>
            <a:ext cx="3977639" cy="4069080"/>
          </a:xfrm>
          <a:prstGeom prst="roundRect">
            <a:avLst/>
          </a:prstGeom>
          <a:noFill/>
          <a:ln w="285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82712" y="1399032"/>
            <a:ext cx="37033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404040"/>
                </a:solidFill>
                <a:latin typeface="Arial"/>
              </a:rPr>
              <a:t>EXTERNAL AZURE SUBSCRIPTION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743200"/>
            <a:ext cx="3429000" cy="132588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Azure Function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Validation engine
Stateless · in-memory · stores nothing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3760" y="2971800"/>
            <a:ext cx="548640" cy="292608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eft Arrow 12"/>
          <p:cNvSpPr/>
          <p:nvPr/>
        </p:nvSpPr>
        <p:spPr>
          <a:xfrm>
            <a:off x="7223760" y="3520440"/>
            <a:ext cx="548640" cy="292608"/>
          </a:xfrm>
          <a:prstGeom prst="lef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" y="5532120"/>
            <a:ext cx="11384280" cy="7315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Only transient document content crosses the boundary — encrypted (TLS) and authenticated with a Mace-held key. Documents, rules, results and reports never leave the Mace tenant.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SECURITY — THE HEADLINE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Is the data secure? Yes.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333333"/>
                </a:solidFill>
                <a:latin typeface="Arial"/>
              </a:rPr>
              <a:t>The validation engine runs in a separate Azure subscription — but your data never leaves the Mace tenant.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3611880" cy="219456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2E7D52"/>
                </a:solidFill>
                <a:latin typeface="Arial"/>
              </a:rPr>
              <a:t>Data stays in Mace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Documents, rules, results and reports all live in Mace SharePoint. The engine never copies them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606040"/>
            <a:ext cx="3611880" cy="219456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Least-privilege access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Site-scoped (Sites.Selected), granted and revocable by Mace IT. It can see one site — nothing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606040"/>
            <a:ext cx="3611880" cy="219456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404040"/>
                </a:solidFill>
                <a:latin typeface="Arial"/>
              </a:rPr>
              <a:t>Nothing stored outside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engine is stateless: it processes in memory and discards. No database, no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SECURITY — DATA RESIDENCY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Your data stays in your tenant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All documents, style rules, validation results and reports live in Mace SharePoint (Mace Way Control Centre). The engine never persists them elsewhere.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engine is stateless — documents are processed in memory and discarded. There is no database and no data retention in the external subscription.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Power Automate flow runs inside Mace, as a Mace user — every write to SharePoint happens within the Mace tenant.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All traffic is encrypted in transit (TLS / HTTPS) end to end.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External AI is currently disabled — no document content is sent to any third-party AI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SECURITY — ACCESS &amp; CONTROL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Access is least-privilege and Mace-controlled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Access is granted through an Azure AD app registration on the Mace tenant, admin-consented by Mace IT.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It uses Sites.Selected — scoped to a single site (Mace Way Control Centre), not tenant-wide. It cannot reach any other Mace data.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engine's HTTP endpoint is protected by function keys — only the Mace flow can invoke it.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Mace can revoke access instantly — withdraw the site grant, disable the app, or rotate the key — with no dependency on the external subscription.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Every request is logged with an audit trail and access-control checks (aligned to SOC 2 control families).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SECURITY — HOSTING &amp; PATH TO PRODUCTION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Addressing "it's in your tenant"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Today the engine runs in a personal Azure subscription. This was a deliberate pilot choice: rapid iteration with zero dependency on Mace infrastructure or change-control.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security model above holds regardless of where the engine runs — because the data and the controls live in Mace.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The engine is tenant-agnostic. Productionising means redeploying the same code into a Mace-owned Azure subscription — no rewrite, no change to the data model.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Recommendation: adopt the engine into Mace Azure under CDIO governance, with a nominated DTS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PATH TO PRODUCTION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From pilot to production — same code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463040"/>
            <a:ext cx="5074920" cy="4114800"/>
          </a:xfrm>
          <a:prstGeom prst="roundRect">
            <a:avLst/>
          </a:prstGeom>
          <a:noFill/>
          <a:ln w="285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536192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797574"/>
                </a:solidFill>
                <a:latin typeface="Arial"/>
              </a:rPr>
              <a:t>TODAY  · 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4434840" cy="132588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Mace 365 tenant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Data · SharePoint · Power Automate flow</a:t>
            </a:r>
          </a:p>
        </p:txBody>
      </p:sp>
      <p:sp>
        <p:nvSpPr>
          <p:cNvPr id="7" name="Down Arrow 6"/>
          <p:cNvSpPr/>
          <p:nvPr/>
        </p:nvSpPr>
        <p:spPr>
          <a:xfrm>
            <a:off x="2697480" y="3401568"/>
            <a:ext cx="320040" cy="45720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3931920"/>
            <a:ext cx="4434840" cy="118872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Validation engine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Personal Azure subscription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3246120"/>
            <a:ext cx="868680" cy="457200"/>
          </a:xfrm>
          <a:prstGeom prst="rightArrow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80" y="2788920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797574"/>
                </a:solidFill>
                <a:latin typeface="Arial"/>
              </a:rPr>
              <a:t>Redeploy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463040"/>
            <a:ext cx="5074920" cy="4114800"/>
          </a:xfrm>
          <a:prstGeom prst="roundRect">
            <a:avLst/>
          </a:prstGeom>
          <a:noFill/>
          <a:ln w="285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1536192"/>
            <a:ext cx="4800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E7D52"/>
                </a:solidFill>
                <a:latin typeface="Arial"/>
              </a:rPr>
              <a:t>TARGET  · 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011680"/>
            <a:ext cx="4434840" cy="132588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Mace 365 tenant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Data · SharePoint · Power Automate flow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69680" y="3401568"/>
            <a:ext cx="320040" cy="45720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49440" y="3931920"/>
            <a:ext cx="4434840" cy="1188720"/>
          </a:xfrm>
          <a:prstGeom prst="round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Validation engine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Mace Azure subscription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715000"/>
            <a:ext cx="11247120" cy="59436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</a:rPr>
              <a:t>Data residency and the security model are identical in both states — only the engine's hosting moves.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DEPLOYMENT GUIDE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Deployment &amp; operations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797574"/>
                </a:solidFill>
                <a:latin typeface="Arial"/>
              </a:rPr>
              <a:t>Components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Arial"/>
              </a:rPr>
              <a:t>•  Azure Function (Python, serverless / Flex Consumption) · Power Automate flow · SharePoint lists &amp; libraries.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797574"/>
                </a:solidFill>
                <a:latin typeface="Arial"/>
              </a:rPr>
              <a:t>Repeatable &amp; governed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Arial"/>
              </a:rPr>
              <a:t>•  Infrastructure-as-code (ARM template) and a CI/CD pipeline are defined; deployment is scripted, not manual.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797574"/>
                </a:solidFill>
                <a:latin typeface="Arial"/>
              </a:rPr>
              <a:t>Configurable without redeploying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Arial"/>
              </a:rPr>
              <a:t>•  Style rules and results are managed in SharePoint — the business changes rules without a release.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797574"/>
                </a:solidFill>
                <a:latin typeface="Arial"/>
              </a:rPr>
              <a:t>Current state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Arial"/>
              </a:rPr>
              <a:t>•  Piloted on Mace Way Control Centre and validated end-to-end on production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BUSINESS VALUE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1463040"/>
            <a:ext cx="3611880" cy="21031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Consistency &amp; quality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Every document held to the same standard,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3611880" cy="21031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2E7D52"/>
                </a:solidFill>
                <a:latin typeface="Arial"/>
              </a:rPr>
              <a:t>Speed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Seconds, not manual review cycles — at the point of authoring.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63040"/>
            <a:ext cx="3611880" cy="21031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Governance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Auditable and aligned to the Control Centre's ISO 19650 ways of working.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3611880" cy="21031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404040"/>
                </a:solidFill>
                <a:latin typeface="Arial"/>
              </a:rPr>
              <a:t>Low cost &amp; scalable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Serverless, pay-per-use; rules maintained by the business.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749039"/>
            <a:ext cx="3611880" cy="21031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797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/>
            <a:r>
              <a:rPr sz="1600" b="1" i="0">
                <a:solidFill>
                  <a:srgbClr val="797574"/>
                </a:solidFill>
                <a:latin typeface="Arial"/>
              </a:rPr>
              <a:t>A reusable pattern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333333"/>
                </a:solidFill>
                <a:latin typeface="Arial"/>
              </a:rPr>
              <a:t>A foundation for automated document governance across Mace.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rtlCol="0" anchor="ctr"/>
          <a:lstStyle/>
          <a:p>
            <a:pPr algn="ctr"/>
            <a:r>
              <a:rPr sz="1100" b="1" i="0">
                <a:solidFill>
                  <a:srgbClr val="DDDDDD"/>
                </a:solidFill>
                <a:latin typeface="Arial"/>
              </a:rPr>
              <a:t>WHAT'S NEXT
</a:t>
            </a:r>
            <a:r>
              <a:rPr sz="2600" b="1" i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10896"/>
            <a:ext cx="1162304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000"/>
              </a:spcBef>
              <a:spcAft>
                <a:spcPts val="800"/>
              </a:spcAft>
            </a:pPr>
            <a:r>
              <a:rPr sz="2000" b="1" i="0">
                <a:solidFill>
                  <a:srgbClr val="797574"/>
                </a:solidFill>
                <a:latin typeface="Arial"/>
              </a:rPr>
              <a:t>Now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Live pilot on Mace Way Control Centre — validation, auto-fix, branded reporting and audit, all working.</a:t>
            </a:r>
          </a:p>
          <a:p>
            <a:pPr>
              <a:spcBef>
                <a:spcPts val="1000"/>
              </a:spcBef>
              <a:spcAft>
                <a:spcPts val="800"/>
              </a:spcAft>
            </a:pPr>
            <a:r>
              <a:rPr sz="2000" b="1" i="0">
                <a:solidFill>
                  <a:srgbClr val="797574"/>
                </a:solidFill>
                <a:latin typeface="Arial"/>
              </a:rPr>
              <a:t>Next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Migrate the engine into Mace Azure; tighten the site grant to least-privilege (read-only); expand rule coverage.</a:t>
            </a:r>
          </a:p>
          <a:p>
            <a:pPr>
              <a:spcBef>
                <a:spcPts val="1000"/>
              </a:spcBef>
              <a:spcAft>
                <a:spcPts val="800"/>
              </a:spcAft>
            </a:pPr>
            <a:r>
              <a:rPr sz="2000" b="1" i="0">
                <a:solidFill>
                  <a:srgbClr val="797574"/>
                </a:solidFill>
                <a:latin typeface="Arial"/>
              </a:rPr>
              <a:t>Later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•  Optional AI-assisted language review with data-classification controls; roll out to further libraries and 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6C757D"/>
                </a:solidFill>
                <a:latin typeface="Arial"/>
              </a:rPr>
              <a:t>Mace Style Validator  ·  Executive briefing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97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cew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2300393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What I'm asking for</a:t>
            </a:r>
          </a:p>
          <a:p>
            <a:pPr>
              <a:spcBef>
                <a:spcPts val="1400"/>
              </a:spcBef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Endorsement to productionise the engine within Mace Azure, under CDIO governance.</a:t>
            </a:r>
          </a:p>
          <a:p>
            <a:pPr>
              <a:spcBef>
                <a:spcPts val="1400"/>
              </a:spcBef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A nominated owner in DTS / IT for the app registration and hosting.</a:t>
            </a:r>
          </a:p>
          <a:p>
            <a:pPr>
              <a:spcBef>
                <a:spcPts val="1400"/>
              </a:spcBef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Support to grow this from a pilot into a Control-Centre-wide capability.</a:t>
            </a:r>
          </a:p>
          <a:p>
            <a:pPr>
              <a:spcBef>
                <a:spcPts val="2600"/>
              </a:spcBef>
            </a:pPr>
            <a:r>
              <a:rPr sz="1400" b="0" i="0">
                <a:solidFill>
                  <a:srgbClr val="DDDDDD"/>
                </a:solidFill>
                <a:latin typeface="Arial"/>
              </a:rPr>
              <a:t>Stephen Cummins  ·  stephen.cummins@macegroup.com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1583</Words>
  <Application>Microsoft Macintosh PowerPoint</Application>
  <PresentationFormat>Widescreen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Cummins JP, Stephen J</cp:lastModifiedBy>
  <cp:revision>2</cp:revision>
  <dcterms:created xsi:type="dcterms:W3CDTF">2013-01-27T09:14:16Z</dcterms:created>
  <dcterms:modified xsi:type="dcterms:W3CDTF">2026-06-04T13:24:35Z</dcterms:modified>
  <cp:category/>
</cp:coreProperties>
</file>